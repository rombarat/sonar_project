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5033" autoAdjust="0"/>
  </p:normalViewPr>
  <p:slideViewPr>
    <p:cSldViewPr snapToGrid="0" snapToObjects="1">
      <p:cViewPr varScale="1">
        <p:scale>
          <a:sx n="104" d="100"/>
          <a:sy n="104" d="100"/>
        </p:scale>
        <p:origin x="85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6140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1645920" cy="3657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#3413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Sonar Signal Detection</a:t>
            </a:r>
            <a:r>
              <a:rPr lang="he-IL" sz="3200" dirty="0"/>
              <a:t> </a:t>
            </a: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</a:t>
            </a:r>
            <a:r>
              <a:rPr lang="he-IL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Separation Based on Beam Pattern Analysis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Students: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Ariel Jacobson (325553410)  |  Rom Barat (322911116)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Shaked Sasporta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Israeli Navy Headquarters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0" y="4389120"/>
            <a:ext cx="2743200" cy="548640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5943600" y="4389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Approval: ____________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 Aviv University | Faculty of Engineering | School of Electrical Engineering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&amp; 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" y="109728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5" name="Shape 3"/>
          <p:cNvSpPr/>
          <p:nvPr/>
        </p:nvSpPr>
        <p:spPr>
          <a:xfrm>
            <a:off x="91440" y="1097280"/>
            <a:ext cx="73152" cy="18288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160020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multi-target environment, a loud source (Jammer/Interferer) creates significant energy leakage.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 operators face information overload from multiple sources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Critical Issue: A quiet target of interest is often 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hidden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 the side-lobes of a louder neighbor.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260188"/>
            <a:ext cx="8412480" cy="173736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548640" y="33973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Goal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376310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algorithm for "speaker separation" in sonar context — distinguishing between different sound sources even when they overlap in intensity at a given direction, by leveraging the fact that they arrive from different angles.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44890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Importance: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operator cognitive load • Faster threat identification • Improved detection of masked targets</a:t>
            </a:r>
            <a:endParaRPr lang="en-US" sz="11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059EA3E-6045-32E6-3C1D-8B01DFC8D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5235" y="702620"/>
            <a:ext cx="4869843" cy="27693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Requirements &amp; Deliverables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126246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51760" cy="4572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Simulation Environment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2468880" cy="7138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 sensor array simulation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Delay-and-Sum beamforming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propagation model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SNR &amp; scenarios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651760" cy="126246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651760" cy="4572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3200400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Detection Algorithm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164592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target detection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vs. noise classification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counting algorithm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feature extraction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097280"/>
            <a:ext cx="2651760" cy="126246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3" name="Shape 11"/>
          <p:cNvSpPr/>
          <p:nvPr/>
        </p:nvSpPr>
        <p:spPr>
          <a:xfrm>
            <a:off x="6035040" y="1097280"/>
            <a:ext cx="2651760" cy="45720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6035040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Separation Output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164592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audio per target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masking removal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null-steering filter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playback for operator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42578" y="2376223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Urbanist"/>
              </a:rPr>
              <a:t>What Are We Simulating</a:t>
            </a:r>
            <a:endParaRPr lang="en-US" sz="1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6270" y="2643906"/>
            <a:ext cx="4952773" cy="1926877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142578" y="2676615"/>
            <a:ext cx="4459622" cy="16324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building a Data Factory to train a Neural Network. The simulation replicates the exact physics of masking: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Scenario: A target enters through the "Side Lobe" of a Jammer.</a:t>
            </a:r>
            <a:endParaRPr lang="en-US" sz="11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Conventional math cannot distinguish the target from the Jammer's leakage.</a:t>
            </a:r>
            <a:endParaRPr lang="en-US" sz="11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Expectation: By generating thousands of these "impossible" scenarios, the model will learn the </a:t>
            </a: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fingerprint</a:t>
            </a: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of the array's side-lobes and filter them out.</a:t>
            </a:r>
            <a:endParaRPr lang="en-US" sz="11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199BD19-37AB-A6AA-378F-0D3E3636F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450" y="2571750"/>
            <a:ext cx="4117814" cy="21487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417320" cy="10058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274320" y="118872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Acoustic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221284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Array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(ULA)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91640" y="14630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075688" y="1188720"/>
            <a:ext cx="1417320" cy="10058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2075688" y="118872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Spatial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Filtering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75688" y="221284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Delay-and-Sum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Beamforming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493008" y="14630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877056" y="1188720"/>
            <a:ext cx="1417320" cy="10058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3877056" y="118872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Spectral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77056" y="221284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 / BT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294376" y="14630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678424" y="1188720"/>
            <a:ext cx="1417320" cy="10058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5678424" y="118872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78424" y="221284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and </a:t>
            </a:r>
            <a:r>
              <a:rPr lang="en-US" sz="8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Seperation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095744" y="14630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479792" y="1188720"/>
            <a:ext cx="1417320" cy="100584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7479792" y="118872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Separated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Audio (optional)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79792" y="221284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Per-target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6576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Details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3017520"/>
            <a:ext cx="402336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5" name="Text 23"/>
          <p:cNvSpPr/>
          <p:nvPr/>
        </p:nvSpPr>
        <p:spPr>
          <a:xfrm>
            <a:off x="457200" y="3108960"/>
            <a:ext cx="3840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Filtering (Beamforming)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Linear Array (ULA) with 100 sensors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Delay-and-Sum algorithm with phase shifts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 scanning: -90° to +90°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Sub-sample delay via frequency domain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3017520"/>
            <a:ext cx="42062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7" name="Text 25"/>
          <p:cNvSpPr/>
          <p:nvPr/>
        </p:nvSpPr>
        <p:spPr>
          <a:xfrm>
            <a:off x="4663440" y="3108960"/>
            <a:ext cx="4023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&amp; Separation (Planned)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as baseline classifier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for improved accuracy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features + spectral features as input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null-steering for separation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1: Spatial Filtering (Beamforming)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51560"/>
            <a:ext cx="5486400" cy="2468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0" y="1051560"/>
            <a:ext cx="292608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6" name="Shape 3"/>
          <p:cNvSpPr/>
          <p:nvPr/>
        </p:nvSpPr>
        <p:spPr>
          <a:xfrm>
            <a:off x="5943600" y="1051560"/>
            <a:ext cx="73152" cy="246888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" name="Text 4"/>
          <p:cNvSpPr/>
          <p:nvPr/>
        </p:nvSpPr>
        <p:spPr>
          <a:xfrm>
            <a:off x="6126480" y="1143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Observations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126480" y="1554480"/>
            <a:ext cx="2651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lobe steered to 30° (target direction)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lobes attenuated by ~13 dB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Jammer at 20° experiences ~20 dB attenuation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 view confirms directional selectivity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657600"/>
            <a:ext cx="5029200" cy="13258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0" y="3657600"/>
            <a:ext cx="3383280" cy="132588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1" name="Text 7"/>
          <p:cNvSpPr/>
          <p:nvPr/>
        </p:nvSpPr>
        <p:spPr>
          <a:xfrm>
            <a:off x="5577840" y="3749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Physics Engine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577840" y="406908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delay based on angle θ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Phase-shift in frequency domain for precision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2: Spectral Estimation Methods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51560"/>
            <a:ext cx="5669280" cy="2743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6480" y="1051560"/>
            <a:ext cx="27432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6" name="Text 3"/>
          <p:cNvSpPr/>
          <p:nvPr/>
        </p:nvSpPr>
        <p:spPr>
          <a:xfrm>
            <a:off x="621792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 Comparison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217920" y="1508760"/>
            <a:ext cx="25603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Periodogram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High variance, hard to detect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Bartlett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Reduced variance, lower resolution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Welch ✓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Best SNR, clear 1200Hz peak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Blackman-Tukey ✓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Smoothest, ideal for counting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74320" y="3931920"/>
            <a:ext cx="8595360" cy="100584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9" name="Text 6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Welch's method for detection (lowest MSE) | Blackman-Tukey for visualization (smoothest curve)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at 1200 Hz clearly visible with Welch &amp; Blackman-Tukey, while Periodogram shows only noise fluctuations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Simulation Pipeline Demo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51560"/>
            <a:ext cx="4114800" cy="1005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480560" y="1051560"/>
            <a:ext cx="73152" cy="10058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" name="Text 3"/>
          <p:cNvSpPr/>
          <p:nvPr/>
        </p:nvSpPr>
        <p:spPr>
          <a:xfrm>
            <a:off x="4663440" y="105156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Audio Loading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1-second normalized vessel signal (8000 samples)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194560"/>
            <a:ext cx="4114800" cy="1280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480560" y="2194560"/>
            <a:ext cx="73152" cy="12801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9" name="Text 5"/>
          <p:cNvSpPr/>
          <p:nvPr/>
        </p:nvSpPr>
        <p:spPr>
          <a:xfrm>
            <a:off x="4663440" y="21945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Controlled Noise Injection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Gaussian noise at SNR = 10 dB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Zoomed view reveals the "jitter" on the signal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3611880"/>
            <a:ext cx="4114800" cy="13716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480560" y="3611880"/>
            <a:ext cx="73152" cy="137160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2" name="Text 7"/>
          <p:cNvSpPr/>
          <p:nvPr/>
        </p:nvSpPr>
        <p:spPr>
          <a:xfrm>
            <a:off x="4663440" y="36118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Sensor Array Simulation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sensors receive delayed copies of signal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stripe = wavefront propagation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~140 sample delay between Sensor 0 and 99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Multi-Target Detection Demo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05840"/>
            <a:ext cx="4526280" cy="20705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" y="3079463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 Vessel at 30°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1" y="1005840"/>
            <a:ext cx="4517496" cy="20665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17720" y="30573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Vessels at -30° and 20°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228600" y="3337560"/>
            <a:ext cx="8686800" cy="160020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9" name="Text 5"/>
          <p:cNvSpPr/>
          <p:nvPr/>
        </p:nvSpPr>
        <p:spPr>
          <a:xfrm>
            <a:off x="365760" y="3429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Results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365760" y="379476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Beamgram (Panel A): </a:t>
            </a: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Time-angle energy map shows concentration at target directions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Spectrum (Panel B): </a:t>
            </a: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peaks at both target angles (-30° and 20°)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 View (Panel C): </a:t>
            </a: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energy confirms successful spatial filtering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Status &amp; Progress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Theoretical background study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Acoustics, beamforming, spectral methods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Simulation environment (Python)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ULA model, physics engine, beamformer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Spectral estimation comparison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Selected Welch &amp; Blackman-Tukey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Multi-target scenario demonstration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Successfully generation a number  of vessels at different angles</a:t>
            </a:r>
            <a:endParaRPr lang="he-IL" sz="90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Dataset generation</a:t>
            </a:r>
            <a:endParaRPr lang="en-US" sz="1100" dirty="0"/>
          </a:p>
          <a:p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Synthesizing training data for ML models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0" y="1051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Progress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4846320" y="1508760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 ML detection </a:t>
            </a:r>
            <a:r>
              <a:rPr lang="en-US" sz="1100" dirty="0" err="1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algorithem</a:t>
            </a:r>
            <a:endParaRPr lang="en-US" sz="1100" dirty="0"/>
          </a:p>
          <a:p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Target vs. noise binary classification 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Target counting algorithm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Estimating number of active sources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Audio separation output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Generating per-target audio channels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3749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4114800"/>
            <a:ext cx="8412480" cy="86868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457200" y="4206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NumPy / SciPy (signal processing)  |  </a:t>
            </a: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(visualization)  |  </a:t>
            </a: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/ PyTorch</a:t>
            </a: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(ML - planned)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Timeline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5948350"/>
              </p:ext>
            </p:extLst>
          </p:nvPr>
        </p:nvGraphicFramePr>
        <p:xfrm>
          <a:off x="365760" y="1051560"/>
          <a:ext cx="8412480" cy="3822192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Theoretical background study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Simulation environment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generation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30/12/2025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detector (Detection)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23/01/2026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F0A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Mid-project presentation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counting algorithm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20/03/2026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 channel generation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20/04/2026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Stress testing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05/05/2026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report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24/05/2026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presentation &amp; poster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23/06/2026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A9009B10E2F14CBEB5D7773F2E8C17" ma:contentTypeVersion="5" ma:contentTypeDescription="Create a new document." ma:contentTypeScope="" ma:versionID="76b7b208ce7f4badd626b6e7622ed388">
  <xsd:schema xmlns:xsd="http://www.w3.org/2001/XMLSchema" xmlns:xs="http://www.w3.org/2001/XMLSchema" xmlns:p="http://schemas.microsoft.com/office/2006/metadata/properties" xmlns:ns3="452abdcc-d06e-466b-8dac-c4f6156131bd" targetNamespace="http://schemas.microsoft.com/office/2006/metadata/properties" ma:root="true" ma:fieldsID="240963aaf06f74a6b5d9223ef1106d3c" ns3:_="">
    <xsd:import namespace="452abdcc-d06e-466b-8dac-c4f6156131bd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2abdcc-d06e-466b-8dac-c4f6156131bd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52abdcc-d06e-466b-8dac-c4f6156131bd" xsi:nil="true"/>
  </documentManagement>
</p:properties>
</file>

<file path=customXml/itemProps1.xml><?xml version="1.0" encoding="utf-8"?>
<ds:datastoreItem xmlns:ds="http://schemas.openxmlformats.org/officeDocument/2006/customXml" ds:itemID="{683ADE0F-B091-4727-B10D-E8C0CC543D2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39F27F-872E-4FFD-BC78-17CC9EE408F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52abdcc-d06e-466b-8dac-c4f6156131b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8466B77-3190-48F5-9E6C-4F377D293F63}">
  <ds:schemaRefs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dcmitype/"/>
    <ds:schemaRef ds:uri="http://schemas.microsoft.com/office/infopath/2007/PartnerControls"/>
    <ds:schemaRef ds:uri="http://purl.org/dc/terms/"/>
    <ds:schemaRef ds:uri="http://schemas.microsoft.com/office/2006/documentManagement/types"/>
    <ds:schemaRef ds:uri="452abdcc-d06e-466b-8dac-c4f6156131bd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840</Words>
  <Application>Microsoft Office PowerPoint</Application>
  <PresentationFormat>On-screen Show (16:9)</PresentationFormat>
  <Paragraphs>167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Georgia</vt:lpstr>
      <vt:lpstr>Urbanist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Sonar Signal Detection, Classification and Separation</dc:title>
  <dc:subject>PptxGenJS Presentation</dc:subject>
  <dc:creator>Ariel Jacobson &amp; Rom Barat</dc:creator>
  <cp:lastModifiedBy>Ariel Jacobson</cp:lastModifiedBy>
  <cp:revision>4</cp:revision>
  <dcterms:created xsi:type="dcterms:W3CDTF">2026-01-26T16:06:28Z</dcterms:created>
  <dcterms:modified xsi:type="dcterms:W3CDTF">2026-02-08T17:49:37Z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0x010100FAA9009B10E2F14CBEB5D7773F2E8C17</vt:lpwstr>
  </property>
</Properties>
</file>