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9" r:id="rId7"/>
    <p:sldId id="258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5033" autoAdjust="0"/>
  </p:normalViewPr>
  <p:slideViewPr>
    <p:cSldViewPr snapToGrid="0" snapToObjects="1">
      <p:cViewPr varScale="1">
        <p:scale>
          <a:sx n="104" d="100"/>
          <a:sy n="104" d="100"/>
        </p:scale>
        <p:origin x="850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עקיבא יעקובסון" userId="6bf11e45ed00a0d2" providerId="LiveId" clId="{4347FCF2-082F-49C1-BDE0-79031C3D7DE2}"/>
    <pc:docChg chg="modSld">
      <pc:chgData name="עקיבא יעקובסון" userId="6bf11e45ed00a0d2" providerId="LiveId" clId="{4347FCF2-082F-49C1-BDE0-79031C3D7DE2}" dt="2026-02-22T15:54:31.962" v="1" actId="20577"/>
      <pc:docMkLst>
        <pc:docMk/>
      </pc:docMkLst>
      <pc:sldChg chg="modSp mod">
        <pc:chgData name="עקיבא יעקובסון" userId="6bf11e45ed00a0d2" providerId="LiveId" clId="{4347FCF2-082F-49C1-BDE0-79031C3D7DE2}" dt="2026-02-22T15:54:31.962" v="1" actId="20577"/>
        <pc:sldMkLst>
          <pc:docMk/>
          <pc:sldMk cId="0" sldId="265"/>
        </pc:sldMkLst>
        <pc:graphicFrameChg chg="modGraphic">
          <ac:chgData name="עקיבא יעקובסון" userId="6bf11e45ed00a0d2" providerId="LiveId" clId="{4347FCF2-082F-49C1-BDE0-79031C3D7DE2}" dt="2026-02-22T15:54:31.962" v="1" actId="20577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6140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#3413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Sonar Signal Detection</a:t>
            </a:r>
            <a:r>
              <a:rPr lang="he-IL" sz="3200" dirty="0"/>
              <a:t> </a:t>
            </a: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</a:t>
            </a:r>
            <a:r>
              <a:rPr lang="he-IL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Separation Based on Beam Pattern Analysis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Ariel Jacobson (325553410)  |  Rom Barat (322911116)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Shaked Sasporta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Israeli Navy Headquarters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4389120"/>
            <a:ext cx="2743200" cy="54864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5943600" y="4389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Approval: ____________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Aviv University | Faculty of Engineering | School of Electrical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91440" y="1097280"/>
            <a:ext cx="73152" cy="18288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multi-target environment, a loud source (Jammer/Interferer) creates significant energy leakage.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operators face information overload from multiple sources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Issue: A quiet target of interest is often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hidden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the side-lobes of a louder neighbor.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60188"/>
            <a:ext cx="8412480" cy="173736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548640" y="33973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Goal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76310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algorithm for "speaker separation" in sonar context — distinguishing between different sound sources even when they overlap in intensity at a given direction, by leveraging the fact that they arrive from different angles.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4489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Importance: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operator cognitive load • Faster threat identification • Improved detection of masked targets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4C74FD-3A67-FB30-1D13-AE5DF5861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665" y="808237"/>
            <a:ext cx="4367575" cy="24760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417320" cy="1005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Acoustic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22128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Array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(ULA)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91640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75688" y="1188720"/>
            <a:ext cx="141732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2075688" y="11887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75688" y="22128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Delay-and-Sum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Beamforming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93008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77056" y="1188720"/>
            <a:ext cx="1417320" cy="1005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3877056" y="11887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Spectral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77056" y="22128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/ BT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94376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78424" y="1188720"/>
            <a:ext cx="1417320" cy="1005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5678424" y="11887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78424" y="22128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and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Seperation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95744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79792" y="1188720"/>
            <a:ext cx="1417320" cy="100584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7479792" y="1188720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 (optional)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79792" y="22128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Per-target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Details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40233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457200" y="310896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Filtering (Beamforming)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Linear Array (ULA) with 100 sensors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Delay-and-Sum algorithm with phase shifts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 scanning: -90° to +90°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Sub-sample delay via frequency domain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01752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4663440" y="310896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Separation (Planned)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as baseline classifier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for improved accuracy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features + spectral features as input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Requirements &amp; Deliverables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26246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Environment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468880" cy="7138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 sensor array simulation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Delay-and-Sum beamforming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propagation model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SNR &amp; scenarios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126246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320040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Algorithm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645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target detection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vs. noise classification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counting algorithm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feature extraction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51760" cy="126246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4572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603504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Separation Output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645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audio per target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masking removal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null-steering filter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playback for operator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2578" y="2376223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0" u="none" strike="noStrike" dirty="0">
                <a:solidFill>
                  <a:schemeClr val="accent1">
                    <a:lumMod val="75000"/>
                  </a:schemeClr>
                </a:solidFill>
                <a:effectLst/>
                <a:latin typeface="Urbanist"/>
              </a:rPr>
              <a:t>What Are We Simulating</a:t>
            </a: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270" y="2643906"/>
            <a:ext cx="4952773" cy="192687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142578" y="2676615"/>
            <a:ext cx="4459622" cy="163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a Data Factory to train a Neural Network. The simulation replicates the exact physics of masking: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target enters through the "Side Lobe" of a Jammer.</a:t>
            </a:r>
            <a:endParaRPr lang="en-US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Conventional math cannot distinguish the target from the Jammer's leakage.</a:t>
            </a:r>
            <a:endParaRPr lang="en-US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Expectation: By generating thousands of these "impossible" scenarios, the model will learn the 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fingerprint</a:t>
            </a: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of the array's side-lobes and filter them out.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199BD19-37AB-A6AA-378F-0D3E3636F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450" y="2571750"/>
            <a:ext cx="4117814" cy="21487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1: Spatial Filtering (Beamforming)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486400" cy="2468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051560"/>
            <a:ext cx="292608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3"/>
          <p:cNvSpPr/>
          <p:nvPr/>
        </p:nvSpPr>
        <p:spPr>
          <a:xfrm>
            <a:off x="5943600" y="1051560"/>
            <a:ext cx="73152" cy="246888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/>
          <p:nvPr/>
        </p:nvSpPr>
        <p:spPr>
          <a:xfrm>
            <a:off x="6126480" y="1143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0" y="155448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lobe steered to 30° (target direction)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lobes attenuated by ~13 dB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Jammer at 20° experiences ~20 dB attenuation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view confirms directional selectivity</a:t>
            </a:r>
            <a:endParaRPr lang="en-US" sz="1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353438-8289-0E87-C851-BE5125CA24B2}"/>
              </a:ext>
            </a:extLst>
          </p:cNvPr>
          <p:cNvGrpSpPr/>
          <p:nvPr/>
        </p:nvGrpSpPr>
        <p:grpSpPr>
          <a:xfrm>
            <a:off x="274320" y="3749040"/>
            <a:ext cx="3383280" cy="1325880"/>
            <a:chOff x="5486400" y="3657600"/>
            <a:chExt cx="3383280" cy="1325880"/>
          </a:xfrm>
        </p:grpSpPr>
        <p:sp>
          <p:nvSpPr>
            <p:cNvPr id="10" name="Shape 6"/>
            <p:cNvSpPr/>
            <p:nvPr/>
          </p:nvSpPr>
          <p:spPr>
            <a:xfrm>
              <a:off x="5486400" y="3657600"/>
              <a:ext cx="3383280" cy="1325880"/>
            </a:xfrm>
            <a:prstGeom prst="rect">
              <a:avLst/>
            </a:prstGeom>
            <a:solidFill>
              <a:srgbClr val="0A2540"/>
            </a:solidFill>
            <a:ln/>
          </p:spPr>
          <p:txBody>
            <a:bodyPr/>
            <a:lstStyle/>
            <a:p>
              <a:endParaRPr lang="en-IL"/>
            </a:p>
          </p:txBody>
        </p:sp>
        <p:sp>
          <p:nvSpPr>
            <p:cNvPr id="11" name="Text 7"/>
            <p:cNvSpPr/>
            <p:nvPr/>
          </p:nvSpPr>
          <p:spPr>
            <a:xfrm>
              <a:off x="5577840" y="3749040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0A50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Physics Engine</a:t>
              </a:r>
              <a:endParaRPr lang="en-US" sz="12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5577840" y="4069080"/>
              <a:ext cx="3200400" cy="8686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buSzPct val="100000"/>
                <a:buChar char="•"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Time delay based on angle θ</a:t>
              </a:r>
              <a:endParaRPr lang="en-US" sz="900" dirty="0"/>
            </a:p>
            <a:p>
              <a:pPr marL="342900" indent="-342900">
                <a:buSzPct val="100000"/>
                <a:buChar char="•"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Phase-shift in frequency domain for precision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2: Spectral Estimation Methods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66928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05156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621792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Comparison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17920" y="150876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Periodogram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High variance, hard to detect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Bartlett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Reduced variance, lower resolution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Welch ✓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Best SNR, clear 1200Hz peak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Blackman-Tukey ✓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Smoothest, ideal for counting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3931920"/>
            <a:ext cx="8595360" cy="100584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method for detection (lowest MSE) | Blackman-Tukey for visualization (smoothest curve)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at 1200 Hz clearly visible with Welch &amp; Blackman-Tukey, while Periodogram shows only noise fluctuations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Pipeline Demo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114800" cy="1005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80560" y="1051560"/>
            <a:ext cx="73152" cy="1005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4663440" y="10515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Audio Loading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1-second normalized vessel signal (8000 samples)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194560"/>
            <a:ext cx="4114800" cy="1280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480560" y="2194560"/>
            <a:ext cx="73152" cy="12801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5"/>
          <p:cNvSpPr/>
          <p:nvPr/>
        </p:nvSpPr>
        <p:spPr>
          <a:xfrm>
            <a:off x="4663440" y="219456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Controlled Noise Injection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Gaussian noise at SNR = 10 dB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Zoomed view reveals the "jitter" on the signal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611880"/>
            <a:ext cx="4114800" cy="13716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480560" y="3611880"/>
            <a:ext cx="73152" cy="1371600"/>
          </a:xfrm>
          <a:prstGeom prst="rect">
            <a:avLst/>
          </a:prstGeom>
          <a:solidFill>
            <a:srgbClr val="F0A50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7"/>
          <p:cNvSpPr/>
          <p:nvPr/>
        </p:nvSpPr>
        <p:spPr>
          <a:xfrm>
            <a:off x="4663440" y="36118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Sensor Array Simulation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sensors receive delayed copies of signal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stripe = wavefront propagation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~140 sample delay between Sensor 0 and 99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Limitation: The Sidelobe Masking Effect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228600" y="3337560"/>
            <a:ext cx="8686800" cy="16002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5"/>
          <p:cNvSpPr/>
          <p:nvPr/>
        </p:nvSpPr>
        <p:spPr>
          <a:xfrm>
            <a:off x="36576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 Yacht signal dominates the energy map, obscuring the weaker Motorboat track.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Motorboat peak (-12.3 dB) is indistinguishable from the Yacht's sidelobe (-13.2 dB).</a:t>
            </a:r>
          </a:p>
        </p:txBody>
      </p:sp>
      <p:sp>
        <p:nvSpPr>
          <p:cNvPr id="5" name="Text 2"/>
          <p:cNvSpPr/>
          <p:nvPr/>
        </p:nvSpPr>
        <p:spPr>
          <a:xfrm>
            <a:off x="598785" y="3017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Vessel at 30°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EAECBD-74EE-0A84-4271-3765255B8A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333" b="46772"/>
          <a:stretch>
            <a:fillRect/>
          </a:stretch>
        </p:blipFill>
        <p:spPr>
          <a:xfrm>
            <a:off x="1405467" y="986038"/>
            <a:ext cx="2732930" cy="20375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38397" y="3063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Vessels at -30° and </a:t>
            </a:r>
            <a:r>
              <a:rPr lang="he-IL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</a:t>
            </a: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°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B85985E-6B9E-4437-0FE3-3F0DC2DB41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521" t="-1" r="-1" b="46648"/>
          <a:stretch>
            <a:fillRect/>
          </a:stretch>
        </p:blipFill>
        <p:spPr>
          <a:xfrm>
            <a:off x="4695887" y="971359"/>
            <a:ext cx="2840539" cy="20892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Status &amp; Progress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Theoretical background study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Acoustics, beamforming, spectral methods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Simulation environment (Python)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ULA model, physics engine, beamformer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Spectral estimation comparison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Selected Welch &amp; Blackman-Tukey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Multi-target scenario demonstration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Successfully generation a number  of vessels at different angles</a:t>
            </a:r>
            <a:endParaRPr lang="he-IL" sz="9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Dataset generation</a:t>
            </a:r>
            <a:endParaRPr lang="en-US" sz="1100" dirty="0"/>
          </a:p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Synthesizing training data for ML models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ML detection </a:t>
            </a:r>
            <a:r>
              <a:rPr lang="en-US" sz="1100" dirty="0" err="1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algorithem</a:t>
            </a:r>
            <a:endParaRPr lang="en-US" sz="1100" dirty="0"/>
          </a:p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Target vs. noise binary classification 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Target counting algorithm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Estimating number of active sources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Audio separation output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Generating per-target audio channels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4114800"/>
            <a:ext cx="8412480" cy="86868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NumPy / SciPy (signal processing)  |  </a:t>
            </a: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(visualization)  |  </a:t>
            </a: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PyTorch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(ML - planned)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89039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682912"/>
              </p:ext>
            </p:extLst>
          </p:nvPr>
        </p:nvGraphicFramePr>
        <p:xfrm>
          <a:off x="457200" y="789039"/>
          <a:ext cx="8079166" cy="4362241"/>
        </p:xfrm>
        <a:graphic>
          <a:graphicData uri="http://schemas.openxmlformats.org/drawingml/2006/table">
            <a:tbl>
              <a:tblPr/>
              <a:tblGrid>
                <a:gridCol w="2120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1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0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Theoretical background study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15/11/2025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15/11/2025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Basic Beamforming simulation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30/11/2025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30/11/2025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0436248"/>
                  </a:ext>
                </a:extLst>
              </a:tr>
              <a:tr h="305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Spectral estimation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14/12/2025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14/12/2025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3311589"/>
                  </a:ext>
                </a:extLst>
              </a:tr>
              <a:tr h="3050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generation</a:t>
                      </a:r>
                      <a:endParaRPr lang="he-IL" sz="1000" dirty="0">
                        <a:solidFill>
                          <a:srgbClr val="1E293B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30/12/2025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30/12/2025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698477"/>
                  </a:ext>
                </a:extLst>
              </a:tr>
              <a:tr h="3050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Modeling and addition of noise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14/01/2026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he-IL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/01/2026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Simulation environment</a:t>
                      </a:r>
                      <a:endParaRPr lang="he-IL" sz="1000" dirty="0">
                        <a:solidFill>
                          <a:srgbClr val="1E293B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30/01/2026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25/01/2026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4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detector (Detection)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28/02/2026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To be Finished after the presentation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Mid-project presentation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13/02/2026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13/02/2026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5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counting algorithm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20/03/2026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To Be Done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To Be Done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5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channel generation (optional)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20/04/2026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To Be Done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To Be Done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 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05/05/2026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To Be Done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To Be Done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5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24/05/2026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To Be Done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To Be Done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5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presentation &amp; poster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23/06/2026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To Be Done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To Be Done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52abdcc-d06e-466b-8dac-c4f6156131b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A9009B10E2F14CBEB5D7773F2E8C17" ma:contentTypeVersion="5" ma:contentTypeDescription="Create a new document." ma:contentTypeScope="" ma:versionID="76b7b208ce7f4badd626b6e7622ed388">
  <xsd:schema xmlns:xsd="http://www.w3.org/2001/XMLSchema" xmlns:xs="http://www.w3.org/2001/XMLSchema" xmlns:p="http://schemas.microsoft.com/office/2006/metadata/properties" xmlns:ns3="452abdcc-d06e-466b-8dac-c4f6156131bd" targetNamespace="http://schemas.microsoft.com/office/2006/metadata/properties" ma:root="true" ma:fieldsID="240963aaf06f74a6b5d9223ef1106d3c" ns3:_="">
    <xsd:import namespace="452abdcc-d06e-466b-8dac-c4f6156131b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abdcc-d06e-466b-8dac-c4f6156131b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3ADE0F-B091-4727-B10D-E8C0CC543D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466B77-3190-48F5-9E6C-4F377D293F63}">
  <ds:schemaRefs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infopath/2007/PartnerControls"/>
    <ds:schemaRef ds:uri="http://purl.org/dc/terms/"/>
    <ds:schemaRef ds:uri="http://schemas.microsoft.com/office/2006/documentManagement/types"/>
    <ds:schemaRef ds:uri="452abdcc-d06e-466b-8dac-c4f6156131bd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39F27F-872E-4FFD-BC78-17CC9EE408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2abdcc-d06e-466b-8dac-c4f6156131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894</Words>
  <Application>Microsoft Office PowerPoint</Application>
  <PresentationFormat>On-screen Show (16:9)</PresentationFormat>
  <Paragraphs>195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Georgia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Sonar Signal Detection, Classification and Separation</dc:title>
  <dc:subject>PptxGenJS Presentation</dc:subject>
  <dc:creator>Ariel Jacobson &amp; Rom Barat</dc:creator>
  <cp:lastModifiedBy>עקיבא יעקובסון</cp:lastModifiedBy>
  <cp:revision>8</cp:revision>
  <dcterms:created xsi:type="dcterms:W3CDTF">2026-01-26T16:06:28Z</dcterms:created>
  <dcterms:modified xsi:type="dcterms:W3CDTF">2026-02-22T15:54:36Z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0x010100FAA9009B10E2F14CBEB5D7773F2E8C17</vt:lpwstr>
  </property>
</Properties>
</file>